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ileron Bold" charset="1" panose="00000800000000000000"/>
      <p:regular r:id="rId16"/>
    </p:embeddedFont>
    <p:embeddedFont>
      <p:font typeface="Inter" charset="1" panose="020B0502030000000004"/>
      <p:regular r:id="rId17"/>
    </p:embeddedFont>
    <p:embeddedFont>
      <p:font typeface="Inter Bold" charset="1" panose="020B0802030000000004"/>
      <p:regular r:id="rId18"/>
    </p:embeddedFont>
    <p:embeddedFont>
      <p:font typeface="Inter Medium" charset="1" panose="02000503000000020004"/>
      <p:regular r:id="rId19"/>
    </p:embeddedFont>
    <p:embeddedFont>
      <p:font typeface="Inter Semi-Bold" charset="1" panose="02000503000000020004"/>
      <p:regular r:id="rId20"/>
    </p:embeddedFont>
    <p:embeddedFont>
      <p:font typeface="Aileron" charset="1" panose="00000500000000000000"/>
      <p:regular r:id="rId21"/>
    </p:embeddedFont>
    <p:embeddedFont>
      <p:font typeface="Arimo" charset="1" panose="020B0604020202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png" Type="http://schemas.openxmlformats.org/officeDocument/2006/relationships/image"/><Relationship Id="rId12" Target="../media/image30.png" Type="http://schemas.openxmlformats.org/officeDocument/2006/relationships/image"/><Relationship Id="rId13" Target="../media/image31.png" Type="http://schemas.openxmlformats.org/officeDocument/2006/relationships/image"/><Relationship Id="rId14" Target="../media/image32.png" Type="http://schemas.openxmlformats.org/officeDocument/2006/relationships/image"/><Relationship Id="rId15" Target="../media/image33.png" Type="http://schemas.openxmlformats.org/officeDocument/2006/relationships/image"/><Relationship Id="rId16" Target="../media/image34.png" Type="http://schemas.openxmlformats.org/officeDocument/2006/relationships/image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png" Type="http://schemas.openxmlformats.org/officeDocument/2006/relationships/image"/><Relationship Id="rId12" Target="../media/image45.png" Type="http://schemas.openxmlformats.org/officeDocument/2006/relationships/image"/><Relationship Id="rId13" Target="../media/image46.png" Type="http://schemas.openxmlformats.org/officeDocument/2006/relationships/image"/><Relationship Id="rId14" Target="../media/image47.png" Type="http://schemas.openxmlformats.org/officeDocument/2006/relationships/image"/><Relationship Id="rId15" Target="../media/image48.png" Type="http://schemas.openxmlformats.org/officeDocument/2006/relationships/image"/><Relationship Id="rId16" Target="../media/image49.png" Type="http://schemas.openxmlformats.org/officeDocument/2006/relationships/image"/><Relationship Id="rId17" Target="../media/image50.png" Type="http://schemas.openxmlformats.org/officeDocument/2006/relationships/image"/><Relationship Id="rId18" Target="../media/image51.png" Type="http://schemas.openxmlformats.org/officeDocument/2006/relationships/image"/><Relationship Id="rId19" Target="../media/image52.png" Type="http://schemas.openxmlformats.org/officeDocument/2006/relationships/image"/><Relationship Id="rId2" Target="../media/image35.png" Type="http://schemas.openxmlformats.org/officeDocument/2006/relationships/image"/><Relationship Id="rId20" Target="../media/image53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../media/image55.png" Type="http://schemas.openxmlformats.org/officeDocument/2006/relationships/image"/><Relationship Id="rId4" Target="../media/image56.png" Type="http://schemas.openxmlformats.org/officeDocument/2006/relationships/image"/><Relationship Id="rId5" Target="../media/image5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59.png" Type="http://schemas.openxmlformats.org/officeDocument/2006/relationships/image"/><Relationship Id="rId4" Target="../media/image6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1.png" Type="http://schemas.openxmlformats.org/officeDocument/2006/relationships/image"/><Relationship Id="rId3" Target="../media/image62.png" Type="http://schemas.openxmlformats.org/officeDocument/2006/relationships/image"/><Relationship Id="rId4" Target="../media/image63.png" Type="http://schemas.openxmlformats.org/officeDocument/2006/relationships/image"/><Relationship Id="rId5" Target="../media/image6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5.png" Type="http://schemas.openxmlformats.org/officeDocument/2006/relationships/image"/><Relationship Id="rId3" Target="../media/image66.png" Type="http://schemas.openxmlformats.org/officeDocument/2006/relationships/image"/><Relationship Id="rId4" Target="../media/image67.png" Type="http://schemas.openxmlformats.org/officeDocument/2006/relationships/image"/><Relationship Id="rId5" Target="../media/image68.png" Type="http://schemas.openxmlformats.org/officeDocument/2006/relationships/image"/><Relationship Id="rId6" Target="../media/image69.png" Type="http://schemas.openxmlformats.org/officeDocument/2006/relationships/image"/><Relationship Id="rId7" Target="../media/image70.png" Type="http://schemas.openxmlformats.org/officeDocument/2006/relationships/image"/><Relationship Id="rId8" Target="../media/image7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2.png" Type="http://schemas.openxmlformats.org/officeDocument/2006/relationships/image"/><Relationship Id="rId3" Target="../media/image73.png" Type="http://schemas.openxmlformats.org/officeDocument/2006/relationships/image"/><Relationship Id="rId4" Target="../media/image7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56708" y="2569017"/>
            <a:ext cx="1531292" cy="3869923"/>
          </a:xfrm>
          <a:custGeom>
            <a:avLst/>
            <a:gdLst/>
            <a:ahLst/>
            <a:cxnLst/>
            <a:rect r="r" b="b" t="t" l="l"/>
            <a:pathLst>
              <a:path h="3869923" w="1531292">
                <a:moveTo>
                  <a:pt x="0" y="0"/>
                </a:moveTo>
                <a:lnTo>
                  <a:pt x="1531292" y="0"/>
                </a:lnTo>
                <a:lnTo>
                  <a:pt x="1531292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4493047"/>
            <a:ext cx="8279914" cy="5159898"/>
          </a:xfrm>
          <a:custGeom>
            <a:avLst/>
            <a:gdLst/>
            <a:ahLst/>
            <a:cxnLst/>
            <a:rect r="r" b="b" t="t" l="l"/>
            <a:pathLst>
              <a:path h="5159898" w="8279914">
                <a:moveTo>
                  <a:pt x="0" y="0"/>
                </a:moveTo>
                <a:lnTo>
                  <a:pt x="8279914" y="0"/>
                </a:lnTo>
                <a:lnTo>
                  <a:pt x="8279914" y="5159898"/>
                </a:lnTo>
                <a:lnTo>
                  <a:pt x="0" y="51598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748622" y="8997026"/>
            <a:ext cx="2187560" cy="863627"/>
          </a:xfrm>
          <a:custGeom>
            <a:avLst/>
            <a:gdLst/>
            <a:ahLst/>
            <a:cxnLst/>
            <a:rect r="r" b="b" t="t" l="l"/>
            <a:pathLst>
              <a:path h="863627" w="2187560">
                <a:moveTo>
                  <a:pt x="0" y="0"/>
                </a:moveTo>
                <a:lnTo>
                  <a:pt x="2187560" y="0"/>
                </a:lnTo>
                <a:lnTo>
                  <a:pt x="2187560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9204733"/>
            <a:ext cx="1750048" cy="1082267"/>
          </a:xfrm>
          <a:custGeom>
            <a:avLst/>
            <a:gdLst/>
            <a:ahLst/>
            <a:cxnLst/>
            <a:rect r="r" b="b" t="t" l="l"/>
            <a:pathLst>
              <a:path h="1082267" w="1750048">
                <a:moveTo>
                  <a:pt x="0" y="0"/>
                </a:moveTo>
                <a:lnTo>
                  <a:pt x="1750048" y="0"/>
                </a:lnTo>
                <a:lnTo>
                  <a:pt x="175004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455110" y="7925691"/>
            <a:ext cx="2832890" cy="2153601"/>
          </a:xfrm>
          <a:custGeom>
            <a:avLst/>
            <a:gdLst/>
            <a:ahLst/>
            <a:cxnLst/>
            <a:rect r="r" b="b" t="t" l="l"/>
            <a:pathLst>
              <a:path h="2153601" w="2832890">
                <a:moveTo>
                  <a:pt x="0" y="0"/>
                </a:moveTo>
                <a:lnTo>
                  <a:pt x="2832890" y="0"/>
                </a:lnTo>
                <a:lnTo>
                  <a:pt x="283289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184708" y="1497682"/>
            <a:ext cx="2406316" cy="2579949"/>
          </a:xfrm>
          <a:custGeom>
            <a:avLst/>
            <a:gdLst/>
            <a:ahLst/>
            <a:cxnLst/>
            <a:rect r="r" b="b" t="t" l="l"/>
            <a:pathLst>
              <a:path h="2579949" w="2406316">
                <a:moveTo>
                  <a:pt x="0" y="0"/>
                </a:moveTo>
                <a:lnTo>
                  <a:pt x="2406316" y="0"/>
                </a:lnTo>
                <a:lnTo>
                  <a:pt x="240631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958099" y="2450614"/>
            <a:ext cx="1019132" cy="1080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1"/>
              </a:lnSpc>
            </a:pPr>
            <a:r>
              <a:rPr lang="en-US" b="true" sz="810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AI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008086" y="1705390"/>
            <a:ext cx="1750048" cy="1300906"/>
          </a:xfrm>
          <a:custGeom>
            <a:avLst/>
            <a:gdLst/>
            <a:ahLst/>
            <a:cxnLst/>
            <a:rect r="r" b="b" t="t" l="l"/>
            <a:pathLst>
              <a:path h="1300906" w="1750048">
                <a:moveTo>
                  <a:pt x="0" y="0"/>
                </a:moveTo>
                <a:lnTo>
                  <a:pt x="1750048" y="0"/>
                </a:lnTo>
                <a:lnTo>
                  <a:pt x="175004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328257" y="1903358"/>
            <a:ext cx="1232137" cy="535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6"/>
              </a:lnSpc>
            </a:pPr>
            <a:r>
              <a:rPr lang="en-US" sz="1125" spc="-10">
                <a:solidFill>
                  <a:srgbClr val="FFFFFF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CALORIE BALANCE</a:t>
            </a:r>
          </a:p>
          <a:p>
            <a:pPr algn="l">
              <a:lnSpc>
                <a:spcPts val="1496"/>
              </a:lnSpc>
            </a:pPr>
            <a:r>
              <a:rPr lang="en-US" sz="1125" spc="-10">
                <a:solidFill>
                  <a:srgbClr val="FFFFFF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1830 kcal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226842" y="3214004"/>
            <a:ext cx="1750048" cy="1716322"/>
          </a:xfrm>
          <a:custGeom>
            <a:avLst/>
            <a:gdLst/>
            <a:ahLst/>
            <a:cxnLst/>
            <a:rect r="r" b="b" t="t" l="l"/>
            <a:pathLst>
              <a:path h="1716322" w="1750048">
                <a:moveTo>
                  <a:pt x="0" y="0"/>
                </a:moveTo>
                <a:lnTo>
                  <a:pt x="1750048" y="0"/>
                </a:lnTo>
                <a:lnTo>
                  <a:pt x="1750048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361330" y="634055"/>
            <a:ext cx="2406316" cy="1727254"/>
          </a:xfrm>
          <a:custGeom>
            <a:avLst/>
            <a:gdLst/>
            <a:ahLst/>
            <a:cxnLst/>
            <a:rect r="r" b="b" t="t" l="l"/>
            <a:pathLst>
              <a:path h="1727254" w="2406316">
                <a:moveTo>
                  <a:pt x="0" y="0"/>
                </a:moveTo>
                <a:lnTo>
                  <a:pt x="2406316" y="0"/>
                </a:lnTo>
                <a:lnTo>
                  <a:pt x="240631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720902" y="737527"/>
            <a:ext cx="1308200" cy="1249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6"/>
              </a:lnSpc>
            </a:pPr>
            <a:r>
              <a:rPr lang="en-US" sz="1125" spc="-10">
                <a:solidFill>
                  <a:srgbClr val="FFFFFF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NUTRIENT PROFILE</a:t>
            </a:r>
          </a:p>
          <a:p>
            <a:pPr algn="l">
              <a:lnSpc>
                <a:spcPts val="1496"/>
              </a:lnSpc>
            </a:pPr>
          </a:p>
          <a:p>
            <a:pPr algn="l">
              <a:lnSpc>
                <a:spcPts val="1496"/>
              </a:lnSpc>
            </a:pPr>
            <a:r>
              <a:rPr lang="en-US" sz="1125" spc="-10">
                <a:solidFill>
                  <a:srgbClr val="FFFFFF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Carbs</a:t>
            </a:r>
          </a:p>
          <a:p>
            <a:pPr algn="l">
              <a:lnSpc>
                <a:spcPts val="1496"/>
              </a:lnSpc>
            </a:pPr>
            <a:r>
              <a:rPr lang="en-US" sz="1125" spc="-10">
                <a:solidFill>
                  <a:srgbClr val="FFFFFF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Protein</a:t>
            </a:r>
          </a:p>
          <a:p>
            <a:pPr algn="l">
              <a:lnSpc>
                <a:spcPts val="1496"/>
              </a:lnSpc>
            </a:pPr>
            <a:r>
              <a:rPr lang="en-US" sz="1125" spc="-10">
                <a:solidFill>
                  <a:srgbClr val="FFFFFF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Fats</a:t>
            </a:r>
          </a:p>
          <a:p>
            <a:pPr algn="l">
              <a:lnSpc>
                <a:spcPts val="1496"/>
              </a:lnSpc>
            </a:pPr>
            <a:r>
              <a:rPr lang="en-US" sz="1125" spc="-10">
                <a:solidFill>
                  <a:srgbClr val="FFFFFF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Fiber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5017598" y="2350377"/>
            <a:ext cx="1750048" cy="1727254"/>
          </a:xfrm>
          <a:custGeom>
            <a:avLst/>
            <a:gdLst/>
            <a:ahLst/>
            <a:cxnLst/>
            <a:rect r="r" b="b" t="t" l="l"/>
            <a:pathLst>
              <a:path h="1727254" w="1750048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5338861" y="2707659"/>
            <a:ext cx="1127131" cy="981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9"/>
              </a:lnSpc>
            </a:pPr>
            <a:r>
              <a:rPr lang="en-US" sz="1195" spc="-11">
                <a:solidFill>
                  <a:srgbClr val="FFFFFF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PERSONALIZED PLAN</a:t>
            </a:r>
          </a:p>
          <a:p>
            <a:pPr algn="l">
              <a:lnSpc>
                <a:spcPts val="1589"/>
              </a:lnSpc>
            </a:pPr>
            <a:r>
              <a:rPr lang="en-US" sz="1195" spc="-11">
                <a:solidFill>
                  <a:srgbClr val="FFFFFF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Balanced High Fiber Low Sugar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4849" y="2029456"/>
            <a:ext cx="8166669" cy="1288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3"/>
              </a:lnSpc>
            </a:pPr>
            <a:r>
              <a:rPr lang="en-US" sz="9753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NutriGuide AI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8330" y="3465443"/>
            <a:ext cx="8855238" cy="1099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7"/>
              </a:lnSpc>
            </a:pPr>
            <a:r>
              <a:rPr lang="en-US" sz="3291" spc="-32" b="true">
                <a:solidFill>
                  <a:srgbClr val="E6C25A"/>
                </a:solidFill>
                <a:latin typeface="Inter Medium"/>
                <a:ea typeface="Inter Medium"/>
                <a:cs typeface="Inter Medium"/>
                <a:sym typeface="Inter Medium"/>
              </a:rPr>
              <a:t>A Rule-Based Artificial Intelligence / </a:t>
            </a:r>
          </a:p>
          <a:p>
            <a:pPr algn="l">
              <a:lnSpc>
                <a:spcPts val="4377"/>
              </a:lnSpc>
            </a:pPr>
            <a:r>
              <a:rPr lang="en-US" sz="3291" spc="-32" b="true">
                <a:solidFill>
                  <a:srgbClr val="E6C25A"/>
                </a:solidFill>
                <a:latin typeface="Inter Medium"/>
                <a:ea typeface="Inter Medium"/>
                <a:cs typeface="Inter Medium"/>
                <a:sym typeface="Inter Medium"/>
              </a:rPr>
              <a:t>Expert System for Personalized Diet Planning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01696" y="5192994"/>
            <a:ext cx="7518707" cy="774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2399" spc="-21">
                <a:solidFill>
                  <a:srgbClr val="FFFFFF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Team Members: Ragavi N (240701407)</a:t>
            </a:r>
          </a:p>
          <a:p>
            <a:pPr algn="l">
              <a:lnSpc>
                <a:spcPts val="3191"/>
              </a:lnSpc>
            </a:pPr>
            <a:r>
              <a:rPr lang="en-US" sz="2399" spc="-23">
                <a:solidFill>
                  <a:srgbClr val="FFFFFF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                             Preethi K N (240701398)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24584" y="6057286"/>
            <a:ext cx="4278655" cy="381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2399" spc="-23">
                <a:solidFill>
                  <a:srgbClr val="FFFFFF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Department:       CSE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24584" y="6624329"/>
            <a:ext cx="7117818" cy="391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2"/>
              </a:lnSpc>
            </a:pPr>
            <a:r>
              <a:rPr lang="en-US" sz="2355" spc="-23">
                <a:solidFill>
                  <a:srgbClr val="FFFFFF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College:               Rajalakshmi Engineering College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24584" y="7211147"/>
            <a:ext cx="5229930" cy="381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2399" spc="-23">
                <a:solidFill>
                  <a:srgbClr val="FFFFFF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Academic Year:  2026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585778" y="3509522"/>
            <a:ext cx="927278" cy="35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6"/>
              </a:lnSpc>
            </a:pPr>
            <a:r>
              <a:rPr lang="en-US" sz="1125" spc="-10">
                <a:solidFill>
                  <a:srgbClr val="FFFFFF">
                    <a:alpha val="7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RULE-BASED ENGINE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26842" y="426348"/>
            <a:ext cx="7197072" cy="9434305"/>
          </a:xfrm>
          <a:custGeom>
            <a:avLst/>
            <a:gdLst/>
            <a:ahLst/>
            <a:cxnLst/>
            <a:rect r="r" b="b" t="t" l="l"/>
            <a:pathLst>
              <a:path h="9434305" w="7197072">
                <a:moveTo>
                  <a:pt x="0" y="0"/>
                </a:moveTo>
                <a:lnTo>
                  <a:pt x="7197072" y="0"/>
                </a:lnTo>
                <a:lnTo>
                  <a:pt x="7197072" y="9434304"/>
                </a:lnTo>
                <a:lnTo>
                  <a:pt x="0" y="94343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20622" y="8352038"/>
            <a:ext cx="5228268" cy="1727254"/>
          </a:xfrm>
          <a:custGeom>
            <a:avLst/>
            <a:gdLst/>
            <a:ahLst/>
            <a:cxnLst/>
            <a:rect r="r" b="b" t="t" l="l"/>
            <a:pathLst>
              <a:path h="1727254" w="5228268">
                <a:moveTo>
                  <a:pt x="0" y="0"/>
                </a:moveTo>
                <a:lnTo>
                  <a:pt x="5228268" y="0"/>
                </a:lnTo>
                <a:lnTo>
                  <a:pt x="522826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84039" y="960142"/>
            <a:ext cx="6295430" cy="334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5"/>
              </a:lnSpc>
            </a:pPr>
            <a:r>
              <a:rPr lang="en-US" sz="2188" b="true">
                <a:solidFill>
                  <a:srgbClr val="E9C04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ABSTRACT / PROBLEM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7129" y="1516928"/>
            <a:ext cx="8333221" cy="1876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9"/>
              </a:lnSpc>
            </a:pPr>
            <a:r>
              <a:rPr lang="en-US" sz="6566" spc="-195" b="true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One-size-fits-all</a:t>
            </a:r>
          </a:p>
          <a:p>
            <a:pPr algn="l">
              <a:lnSpc>
                <a:spcPts val="7419"/>
              </a:lnSpc>
            </a:pPr>
            <a:r>
              <a:rPr lang="en-US" sz="6566" spc="-195" b="true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diet plans don’t work.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0400" y="3773414"/>
            <a:ext cx="7363924" cy="1786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5"/>
              </a:lnSpc>
            </a:pPr>
            <a:r>
              <a:rPr lang="en-US" sz="2267">
                <a:solidFill>
                  <a:srgbClr val="FFFFFF">
                    <a:alpha val="80000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People differ in age, body metrics, and activity level</a:t>
            </a:r>
          </a:p>
          <a:p>
            <a:pPr algn="l">
              <a:lnSpc>
                <a:spcPts val="3175"/>
              </a:lnSpc>
            </a:pPr>
            <a:r>
              <a:rPr lang="en-US" sz="2267">
                <a:solidFill>
                  <a:srgbClr val="FFFFFF">
                    <a:alpha val="80000"/>
                  </a:srgbClr>
                </a:solidFill>
                <a:latin typeface="Arimo"/>
                <a:ea typeface="Arimo"/>
                <a:cs typeface="Arimo"/>
                <a:sym typeface="Arimo"/>
              </a:rPr>
              <a:t>Preferences, allergies, and health conditions vary</a:t>
            </a:r>
          </a:p>
          <a:p>
            <a:pPr algn="l">
              <a:lnSpc>
                <a:spcPts val="3175"/>
              </a:lnSpc>
            </a:pPr>
            <a:r>
              <a:rPr lang="en-US" sz="2267">
                <a:solidFill>
                  <a:srgbClr val="FFFFFF">
                    <a:alpha val="80000"/>
                  </a:srgbClr>
                </a:solidFill>
                <a:latin typeface="Arimo"/>
                <a:ea typeface="Arimo"/>
                <a:cs typeface="Arimo"/>
                <a:sym typeface="Arimo"/>
              </a:rPr>
              <a:t>Generic plans miss the nuances that drive results</a:t>
            </a:r>
          </a:p>
          <a:p>
            <a:pPr algn="l">
              <a:lnSpc>
                <a:spcPts val="3175"/>
              </a:lnSpc>
            </a:pPr>
            <a:r>
              <a:rPr lang="en-US" sz="2267">
                <a:solidFill>
                  <a:srgbClr val="FFFFFF">
                    <a:alpha val="80000"/>
                  </a:srgbClr>
                </a:solidFill>
                <a:latin typeface="Arimo"/>
                <a:ea typeface="Arimo"/>
                <a:cs typeface="Arimo"/>
                <a:sym typeface="Arimo"/>
              </a:rPr>
              <a:t>Lack of personalization leads to poor adherence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5330" y="7062064"/>
            <a:ext cx="2625072" cy="448211"/>
          </a:xfrm>
          <a:custGeom>
            <a:avLst/>
            <a:gdLst/>
            <a:ahLst/>
            <a:cxnLst/>
            <a:rect r="r" b="b" t="t" l="l"/>
            <a:pathLst>
              <a:path h="448211" w="2625072">
                <a:moveTo>
                  <a:pt x="0" y="0"/>
                </a:moveTo>
                <a:lnTo>
                  <a:pt x="2625072" y="0"/>
                </a:lnTo>
                <a:lnTo>
                  <a:pt x="2625072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20412" y="7017006"/>
            <a:ext cx="6216612" cy="1497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2"/>
              </a:lnSpc>
            </a:pPr>
            <a:r>
              <a:rPr lang="en-US" sz="3234" b="true">
                <a:solidFill>
                  <a:srgbClr val="E9C046"/>
                </a:solidFill>
                <a:latin typeface="Aileron Bold"/>
                <a:ea typeface="Aileron Bold"/>
                <a:cs typeface="Aileron Bold"/>
                <a:sym typeface="Aileron Bold"/>
              </a:rPr>
              <a:t>NutriGuide AI</a:t>
            </a:r>
            <a:r>
              <a:rPr lang="en-US" sz="3234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 uses expert knowledge and IF–THEN rules</a:t>
            </a:r>
          </a:p>
          <a:p>
            <a:pPr algn="l">
              <a:lnSpc>
                <a:spcPts val="4042"/>
              </a:lnSpc>
            </a:pPr>
            <a:r>
              <a:rPr lang="en-US" sz="3234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to create personalized diet plans.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23836" y="8914594"/>
            <a:ext cx="5874225" cy="429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759" spc="-82" b="true">
                <a:solidFill>
                  <a:srgbClr val="E9C046"/>
                </a:solidFill>
                <a:latin typeface="Inter Medium"/>
                <a:ea typeface="Inter Medium"/>
                <a:cs typeface="Inter Medium"/>
                <a:sym typeface="Inter Medium"/>
              </a:rPr>
              <a:t>Explainable. Adaptable. Built for you.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70446" y="1552981"/>
            <a:ext cx="8680409" cy="1632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2"/>
              </a:lnSpc>
            </a:pPr>
            <a:r>
              <a:rPr lang="en-US" sz="5759" spc="-143" b="true">
                <a:solidFill>
                  <a:srgbClr val="FFFFFF">
                    <a:alpha val="94902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Key research shaping AI-powered diet planning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6620" y="3946830"/>
            <a:ext cx="9062970" cy="94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2"/>
              </a:lnSpc>
            </a:pPr>
            <a:r>
              <a:rPr lang="en-US" sz="2575" spc="-64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Five studies show rule-based systems can personalize nutrition, explain recommendations, and improve adherence.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4027" y="5468922"/>
            <a:ext cx="8322259" cy="910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7"/>
              </a:lnSpc>
            </a:pPr>
            <a:r>
              <a:rPr lang="en-US" sz="2478" spc="-61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Common gaps include scalability, limited health coverage, </a:t>
            </a:r>
          </a:p>
          <a:p>
            <a:pPr algn="l">
              <a:lnSpc>
                <a:spcPts val="3717"/>
              </a:lnSpc>
            </a:pPr>
            <a:r>
              <a:rPr lang="en-US" sz="2478" spc="-61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allergy rules, meal variety, and real-time performance.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3522" y="7035222"/>
            <a:ext cx="9372799" cy="94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5"/>
              </a:lnSpc>
            </a:pPr>
            <a:r>
              <a:rPr lang="en-US" sz="2623" spc="-65" b="true">
                <a:solidFill>
                  <a:srgbClr val="E1B940"/>
                </a:solidFill>
                <a:latin typeface="Inter Bold"/>
                <a:ea typeface="Inter Bold"/>
                <a:cs typeface="Inter Bold"/>
                <a:sym typeface="Inter Bold"/>
              </a:rPr>
              <a:t>These insights drive NutriGuide AI — a rule-based, expert system focused on explainability and true personalization.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26842" y="1071335"/>
            <a:ext cx="8061158" cy="7717983"/>
          </a:xfrm>
          <a:custGeom>
            <a:avLst/>
            <a:gdLst/>
            <a:ahLst/>
            <a:cxnLst/>
            <a:rect r="r" b="b" t="t" l="l"/>
            <a:pathLst>
              <a:path h="7717983" w="8061158">
                <a:moveTo>
                  <a:pt x="0" y="0"/>
                </a:moveTo>
                <a:lnTo>
                  <a:pt x="8061158" y="0"/>
                </a:lnTo>
                <a:lnTo>
                  <a:pt x="8061158" y="7717983"/>
                </a:lnTo>
                <a:lnTo>
                  <a:pt x="0" y="77179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789330" y="8133399"/>
            <a:ext cx="3062584" cy="1300906"/>
          </a:xfrm>
          <a:custGeom>
            <a:avLst/>
            <a:gdLst/>
            <a:ahLst/>
            <a:cxnLst/>
            <a:rect r="r" b="b" t="t" l="l"/>
            <a:pathLst>
              <a:path h="1300906" w="3062584">
                <a:moveTo>
                  <a:pt x="0" y="0"/>
                </a:moveTo>
                <a:lnTo>
                  <a:pt x="3062584" y="0"/>
                </a:lnTo>
                <a:lnTo>
                  <a:pt x="306258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184708" y="8133399"/>
            <a:ext cx="6103292" cy="2153601"/>
          </a:xfrm>
          <a:custGeom>
            <a:avLst/>
            <a:gdLst/>
            <a:ahLst/>
            <a:cxnLst/>
            <a:rect r="r" b="b" t="t" l="l"/>
            <a:pathLst>
              <a:path h="2153601" w="6103292">
                <a:moveTo>
                  <a:pt x="0" y="0"/>
                </a:moveTo>
                <a:lnTo>
                  <a:pt x="6103292" y="0"/>
                </a:lnTo>
                <a:lnTo>
                  <a:pt x="610329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57250" y="903152"/>
            <a:ext cx="9456539" cy="406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b="true" sz="2321" spc="-57">
                <a:solidFill>
                  <a:srgbClr val="E1B940"/>
                </a:solidFill>
                <a:latin typeface="Aileron Bold"/>
                <a:ea typeface="Aileron Bold"/>
                <a:cs typeface="Aileron Bold"/>
                <a:sym typeface="Aileron Bold"/>
              </a:rPr>
              <a:t>LITERATURE SURVEY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1548" y="1691642"/>
            <a:ext cx="4570221" cy="242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24"/>
              </a:lnSpc>
            </a:pPr>
            <a:r>
              <a:rPr lang="en-US" sz="5842" spc="-116" b="true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A rule-based intelligence engine.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4493047"/>
            <a:ext cx="1104718" cy="229572"/>
          </a:xfrm>
          <a:custGeom>
            <a:avLst/>
            <a:gdLst/>
            <a:ahLst/>
            <a:cxnLst/>
            <a:rect r="r" b="b" t="t" l="l"/>
            <a:pathLst>
              <a:path h="229572" w="1104718">
                <a:moveTo>
                  <a:pt x="0" y="0"/>
                </a:moveTo>
                <a:lnTo>
                  <a:pt x="1104718" y="0"/>
                </a:lnTo>
                <a:lnTo>
                  <a:pt x="110471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07307" y="5124867"/>
            <a:ext cx="4994310" cy="1906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3"/>
              </a:lnSpc>
            </a:pPr>
            <a:r>
              <a:rPr lang="en-US" sz="2548" spc="-51" b="true">
                <a:solidFill>
                  <a:srgbClr val="E6C041">
                    <a:alpha val="80000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NutriGuide AI</a:t>
            </a:r>
            <a:r>
              <a:rPr lang="en-US" sz="2548" spc="-51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 combines expert knowledge with rule-based reasoning to deliver personalized, explainable diet plans.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6325" y="7610909"/>
            <a:ext cx="4092539" cy="1424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3"/>
              </a:lnSpc>
            </a:pPr>
            <a:r>
              <a:rPr lang="en-US" sz="2548" spc="-51" b="true">
                <a:solidFill>
                  <a:srgbClr val="E6C041"/>
                </a:solidFill>
                <a:latin typeface="Inter Bold"/>
                <a:ea typeface="Inter Bold"/>
                <a:cs typeface="Inter Bold"/>
                <a:sym typeface="Inter Bold"/>
              </a:rPr>
              <a:t>Intelligence derives from knowledge representation</a:t>
            </a:r>
          </a:p>
          <a:p>
            <a:pPr algn="l">
              <a:lnSpc>
                <a:spcPts val="3823"/>
              </a:lnSpc>
            </a:pPr>
            <a:r>
              <a:rPr lang="en-US" sz="2548" spc="-51" b="true">
                <a:solidFill>
                  <a:srgbClr val="E6C041"/>
                </a:solidFill>
                <a:latin typeface="Inter Bold"/>
                <a:ea typeface="Inter Bold"/>
                <a:cs typeface="Inter Bold"/>
                <a:sym typeface="Inter Bold"/>
              </a:rPr>
              <a:t>and rule-based inference.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529866" y="426348"/>
            <a:ext cx="10894048" cy="1289974"/>
          </a:xfrm>
          <a:custGeom>
            <a:avLst/>
            <a:gdLst/>
            <a:ahLst/>
            <a:cxnLst/>
            <a:rect r="r" b="b" t="t" l="l"/>
            <a:pathLst>
              <a:path h="1289974" w="10894048">
                <a:moveTo>
                  <a:pt x="0" y="0"/>
                </a:moveTo>
                <a:lnTo>
                  <a:pt x="10894048" y="0"/>
                </a:lnTo>
                <a:lnTo>
                  <a:pt x="10894048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950302" y="914520"/>
            <a:ext cx="548344" cy="547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2"/>
              </a:lnSpc>
            </a:pPr>
            <a:r>
              <a:rPr lang="en-US" b="true" sz="3939" spc="-157">
                <a:solidFill>
                  <a:srgbClr val="E6C041"/>
                </a:solidFill>
                <a:latin typeface="Inter Bold"/>
                <a:ea typeface="Inter Bold"/>
                <a:cs typeface="Inter Bold"/>
                <a:sym typeface="Inter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57748" y="991331"/>
            <a:ext cx="4026811" cy="30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1"/>
              </a:lnSpc>
            </a:pPr>
            <a:r>
              <a:rPr lang="en-US" sz="1924" spc="-38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Collect personal data &amp; preferences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1965952" y="1497682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529866" y="1705390"/>
            <a:ext cx="10894048" cy="1300906"/>
          </a:xfrm>
          <a:custGeom>
            <a:avLst/>
            <a:gdLst/>
            <a:ahLst/>
            <a:cxnLst/>
            <a:rect r="r" b="b" t="t" l="l"/>
            <a:pathLst>
              <a:path h="1300906" w="10894048">
                <a:moveTo>
                  <a:pt x="0" y="0"/>
                </a:moveTo>
                <a:lnTo>
                  <a:pt x="10894048" y="0"/>
                </a:lnTo>
                <a:lnTo>
                  <a:pt x="1089404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950302" y="2229942"/>
            <a:ext cx="548344" cy="49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b="true" sz="3478" spc="-139">
                <a:solidFill>
                  <a:srgbClr val="E6C041"/>
                </a:solidFill>
                <a:latin typeface="Inter Bold"/>
                <a:ea typeface="Inter Bold"/>
                <a:cs typeface="Inter Bold"/>
                <a:sym typeface="Inter 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33855" y="2320990"/>
            <a:ext cx="3680951" cy="313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3"/>
              </a:lnSpc>
            </a:pPr>
            <a:r>
              <a:rPr lang="en-US" sz="2267" spc="-9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User Profile &amp; Requirements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1965952" y="2776725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529866" y="2995365"/>
            <a:ext cx="10894048" cy="1300906"/>
          </a:xfrm>
          <a:custGeom>
            <a:avLst/>
            <a:gdLst/>
            <a:ahLst/>
            <a:cxnLst/>
            <a:rect r="r" b="b" t="t" l="l"/>
            <a:pathLst>
              <a:path h="1300906" w="10894048">
                <a:moveTo>
                  <a:pt x="0" y="0"/>
                </a:moveTo>
                <a:lnTo>
                  <a:pt x="10894048" y="0"/>
                </a:lnTo>
                <a:lnTo>
                  <a:pt x="1089404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950302" y="3549748"/>
            <a:ext cx="548344" cy="4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3"/>
              </a:lnSpc>
            </a:pPr>
            <a:r>
              <a:rPr lang="en-US" b="true" sz="3385" spc="-135">
                <a:solidFill>
                  <a:srgbClr val="E6C041"/>
                </a:solidFill>
                <a:latin typeface="Inter Bold"/>
                <a:ea typeface="Inter Bold"/>
                <a:cs typeface="Inter Bold"/>
                <a:sym typeface="Inter Bold"/>
              </a:rPr>
              <a:t>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665247" y="3425051"/>
            <a:ext cx="3276823" cy="611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1"/>
              </a:lnSpc>
            </a:pPr>
            <a:r>
              <a:rPr lang="en-US" sz="1924" spc="-38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Nutrition facts &amp; dietary rules</a:t>
            </a:r>
          </a:p>
          <a:p>
            <a:pPr algn="l">
              <a:lnSpc>
                <a:spcPts val="2501"/>
              </a:lnSpc>
            </a:pPr>
            <a:r>
              <a:rPr lang="en-US" sz="1924" spc="-38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IF–THEN expert rules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1965952" y="4066699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529866" y="4285339"/>
            <a:ext cx="10894048" cy="1508614"/>
          </a:xfrm>
          <a:custGeom>
            <a:avLst/>
            <a:gdLst/>
            <a:ahLst/>
            <a:cxnLst/>
            <a:rect r="r" b="b" t="t" l="l"/>
            <a:pathLst>
              <a:path h="1508614" w="10894048">
                <a:moveTo>
                  <a:pt x="0" y="0"/>
                </a:moveTo>
                <a:lnTo>
                  <a:pt x="10894048" y="0"/>
                </a:lnTo>
                <a:lnTo>
                  <a:pt x="1089404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950302" y="4854799"/>
            <a:ext cx="548344" cy="468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2"/>
              </a:lnSpc>
            </a:pPr>
            <a:r>
              <a:rPr lang="en-US" b="true" sz="3339" spc="-133">
                <a:solidFill>
                  <a:srgbClr val="E6C041"/>
                </a:solidFill>
                <a:latin typeface="Inter Bold"/>
                <a:ea typeface="Inter Bold"/>
                <a:cs typeface="Inter Bold"/>
                <a:sym typeface="Inter Bold"/>
              </a:rPr>
              <a:t>04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1965952" y="5356674"/>
            <a:ext cx="448450" cy="644987"/>
          </a:xfrm>
          <a:custGeom>
            <a:avLst/>
            <a:gdLst/>
            <a:ahLst/>
            <a:cxnLst/>
            <a:rect r="r" b="b" t="t" l="l"/>
            <a:pathLst>
              <a:path h="644987" w="448450">
                <a:moveTo>
                  <a:pt x="0" y="0"/>
                </a:moveTo>
                <a:lnTo>
                  <a:pt x="448450" y="0"/>
                </a:lnTo>
                <a:lnTo>
                  <a:pt x="44845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529866" y="5783021"/>
            <a:ext cx="10894048" cy="1289974"/>
          </a:xfrm>
          <a:custGeom>
            <a:avLst/>
            <a:gdLst/>
            <a:ahLst/>
            <a:cxnLst/>
            <a:rect r="r" b="b" t="t" l="l"/>
            <a:pathLst>
              <a:path h="1289974" w="10894048">
                <a:moveTo>
                  <a:pt x="0" y="0"/>
                </a:moveTo>
                <a:lnTo>
                  <a:pt x="10894048" y="0"/>
                </a:lnTo>
                <a:lnTo>
                  <a:pt x="10894048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6950302" y="6149443"/>
            <a:ext cx="548344" cy="469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4"/>
              </a:lnSpc>
            </a:pPr>
            <a:r>
              <a:rPr lang="en-US" b="true" sz="3432" spc="-137">
                <a:solidFill>
                  <a:srgbClr val="E6C041"/>
                </a:solidFill>
                <a:latin typeface="Inter Bold"/>
                <a:ea typeface="Inter Bold"/>
                <a:cs typeface="Inter Bold"/>
                <a:sym typeface="Inter Bold"/>
              </a:rPr>
              <a:t>05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132158" y="6221747"/>
            <a:ext cx="3850614" cy="313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3"/>
              </a:lnSpc>
            </a:pPr>
            <a:r>
              <a:rPr lang="en-US" sz="2267" spc="-9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Diet Recommendation Engine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73389" y="6172260"/>
            <a:ext cx="2462631" cy="30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1"/>
              </a:lnSpc>
            </a:pPr>
            <a:r>
              <a:rPr lang="en-US" sz="1924" spc="-38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Generates meal plans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1965952" y="6635716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529866" y="7062064"/>
            <a:ext cx="10894048" cy="1300906"/>
          </a:xfrm>
          <a:custGeom>
            <a:avLst/>
            <a:gdLst/>
            <a:ahLst/>
            <a:cxnLst/>
            <a:rect r="r" b="b" t="t" l="l"/>
            <a:pathLst>
              <a:path h="1300906" w="10894048">
                <a:moveTo>
                  <a:pt x="0" y="0"/>
                </a:moveTo>
                <a:lnTo>
                  <a:pt x="10894048" y="0"/>
                </a:lnTo>
                <a:lnTo>
                  <a:pt x="1089404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6950302" y="7450506"/>
            <a:ext cx="548344" cy="478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3"/>
              </a:lnSpc>
            </a:pPr>
            <a:r>
              <a:rPr lang="en-US" b="true" sz="3385" spc="-135">
                <a:solidFill>
                  <a:srgbClr val="E6C041"/>
                </a:solidFill>
                <a:latin typeface="Inter Bold"/>
                <a:ea typeface="Inter Bold"/>
                <a:cs typeface="Inter Bold"/>
                <a:sym typeface="Inter Bold"/>
              </a:rPr>
              <a:t>06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141440" y="7532040"/>
            <a:ext cx="2922444" cy="313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3"/>
              </a:lnSpc>
            </a:pPr>
            <a:r>
              <a:rPr lang="en-US" sz="2267" spc="-9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Personalized Diet Plan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669805" y="7482553"/>
            <a:ext cx="2821039" cy="30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1"/>
              </a:lnSpc>
            </a:pPr>
            <a:r>
              <a:rPr lang="en-US" sz="1924" spc="-38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Tailored plan for the user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1965952" y="7925691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6529866" y="8352038"/>
            <a:ext cx="10894048" cy="1300906"/>
          </a:xfrm>
          <a:custGeom>
            <a:avLst/>
            <a:gdLst/>
            <a:ahLst/>
            <a:cxnLst/>
            <a:rect r="r" b="b" t="t" l="l"/>
            <a:pathLst>
              <a:path h="1300906" w="10894048">
                <a:moveTo>
                  <a:pt x="0" y="0"/>
                </a:moveTo>
                <a:lnTo>
                  <a:pt x="10894048" y="0"/>
                </a:lnTo>
                <a:lnTo>
                  <a:pt x="10894048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6950302" y="8735637"/>
            <a:ext cx="548344" cy="498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6"/>
              </a:lnSpc>
            </a:pPr>
            <a:r>
              <a:rPr lang="en-US" b="true" sz="3570" spc="-142">
                <a:solidFill>
                  <a:srgbClr val="E6C041"/>
                </a:solidFill>
                <a:latin typeface="Inter Bold"/>
                <a:ea typeface="Inter Bold"/>
                <a:cs typeface="Inter Bold"/>
                <a:sym typeface="Inter Bold"/>
              </a:rPr>
              <a:t>07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170664" y="8840154"/>
            <a:ext cx="4500562" cy="302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0"/>
              </a:lnSpc>
            </a:pPr>
            <a:r>
              <a:rPr lang="en-US" sz="2055" spc="-82" b="tru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Explanation / Recommendation Output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121050" y="8553035"/>
            <a:ext cx="2860433" cy="611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1"/>
              </a:lnSpc>
            </a:pPr>
            <a:r>
              <a:rPr lang="en-US" sz="1924" spc="-38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Personalized, explainable</a:t>
            </a:r>
          </a:p>
          <a:p>
            <a:pPr algn="l">
              <a:lnSpc>
                <a:spcPts val="2501"/>
              </a:lnSpc>
            </a:pPr>
            <a:r>
              <a:rPr lang="en-US" sz="1924" spc="-38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recommendations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133094" y="3601161"/>
            <a:ext cx="3757027" cy="313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3"/>
              </a:lnSpc>
            </a:pPr>
            <a:r>
              <a:rPr lang="en-US" sz="2267" spc="-9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Knowledge Base + Rule Base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660194" y="2271502"/>
            <a:ext cx="3782145" cy="30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1"/>
              </a:lnSpc>
            </a:pPr>
            <a:r>
              <a:rPr lang="en-US" sz="1924" spc="-38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Structured user attributes &amp; goals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669359" y="4877028"/>
            <a:ext cx="2865631" cy="30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1"/>
              </a:lnSpc>
            </a:pPr>
            <a:r>
              <a:rPr lang="en-US" sz="1924" spc="-38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Applies rules to user data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57250" y="1028196"/>
            <a:ext cx="4500562" cy="332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b="true" sz="2387" spc="-47">
                <a:solidFill>
                  <a:srgbClr val="E6C041"/>
                </a:solidFill>
                <a:latin typeface="Aileron Bold"/>
                <a:ea typeface="Aileron Bold"/>
                <a:cs typeface="Aileron Bold"/>
                <a:sym typeface="Aileron Bold"/>
              </a:rPr>
              <a:t>SYSTEM ARCHITECTURE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148806" y="4926795"/>
            <a:ext cx="2185767" cy="312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5"/>
              </a:lnSpc>
            </a:pPr>
            <a:r>
              <a:rPr lang="en-US" sz="2223" spc="-8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Inference Engine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157326" y="1041098"/>
            <a:ext cx="1333832" cy="312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5"/>
              </a:lnSpc>
            </a:pPr>
            <a:r>
              <a:rPr lang="en-US" sz="2223" spc="-8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User Input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6231" y="654167"/>
            <a:ext cx="3386286" cy="27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b="true" sz="1757" spc="-35">
                <a:solidFill>
                  <a:srgbClr val="F0C34D"/>
                </a:solidFill>
                <a:latin typeface="Inter Bold"/>
                <a:ea typeface="Inter Bold"/>
                <a:cs typeface="Inter Bold"/>
                <a:sym typeface="Inter Bold"/>
              </a:rPr>
              <a:t>IMPLEMENTATION WORKFLOW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35366" y="1160619"/>
            <a:ext cx="8793913" cy="1779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2"/>
              </a:lnSpc>
            </a:pPr>
            <a:r>
              <a:rPr lang="en-US" sz="6477" spc="-129" b="true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From user input to personalized diet plan.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5750" y="3349192"/>
            <a:ext cx="583038" cy="628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7"/>
              </a:lnSpc>
            </a:pPr>
            <a:r>
              <a:rPr lang="en-US" b="true" sz="3755" spc="-75">
                <a:solidFill>
                  <a:srgbClr val="F0C34D"/>
                </a:solidFill>
                <a:latin typeface="Aileron Bold"/>
                <a:ea typeface="Aileron Bold"/>
                <a:cs typeface="Aileron Bold"/>
                <a:sym typeface="Aileron Bold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7766" y="4123739"/>
            <a:ext cx="1232739" cy="1413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1757" spc="-35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Collect user data on</a:t>
            </a:r>
          </a:p>
          <a:p>
            <a:pPr algn="l">
              <a:lnSpc>
                <a:spcPts val="2372"/>
              </a:lnSpc>
            </a:pPr>
            <a:r>
              <a:rPr lang="en-US" sz="1757" spc="-35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profile,</a:t>
            </a:r>
          </a:p>
          <a:p>
            <a:pPr algn="l">
              <a:lnSpc>
                <a:spcPts val="2372"/>
              </a:lnSpc>
            </a:pPr>
            <a:r>
              <a:rPr lang="en-US" sz="1757" spc="-35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activity and preferences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957866" y="3640352"/>
            <a:ext cx="437512" cy="437279"/>
          </a:xfrm>
          <a:custGeom>
            <a:avLst/>
            <a:gdLst/>
            <a:ahLst/>
            <a:cxnLst/>
            <a:rect r="r" b="b" t="t" l="l"/>
            <a:pathLst>
              <a:path h="437279" w="437512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71351" y="3349192"/>
            <a:ext cx="583038" cy="628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7"/>
              </a:lnSpc>
            </a:pPr>
            <a:r>
              <a:rPr lang="en-US" b="true" sz="3755" spc="-75">
                <a:solidFill>
                  <a:srgbClr val="F0C34D"/>
                </a:solidFill>
                <a:latin typeface="Aileron Bold"/>
                <a:ea typeface="Aileron Bold"/>
                <a:cs typeface="Aileron Bold"/>
                <a:sym typeface="Aileron Bold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64549" y="4114814"/>
            <a:ext cx="1435686" cy="1128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1757" spc="-35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Calculate BMI and basic nutritional requirements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915732" y="3640352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559712" y="3349192"/>
            <a:ext cx="583038" cy="628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7"/>
              </a:lnSpc>
            </a:pPr>
            <a:r>
              <a:rPr lang="en-US" b="true" sz="3755" spc="-75">
                <a:solidFill>
                  <a:srgbClr val="F0C34D"/>
                </a:solidFill>
                <a:latin typeface="Aileron Bold"/>
                <a:ea typeface="Aileron Bold"/>
                <a:cs typeface="Aileron Bold"/>
                <a:sym typeface="Aileron Bold"/>
              </a:rPr>
              <a:t>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94725" y="4123739"/>
            <a:ext cx="1299398" cy="1413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1757" spc="-35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Build knowledge base with nutrition and constraints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873598" y="3640352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487989" y="3349192"/>
            <a:ext cx="583038" cy="628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7"/>
              </a:lnSpc>
            </a:pPr>
            <a:r>
              <a:rPr lang="en-US" b="true" sz="3755" spc="-75">
                <a:solidFill>
                  <a:srgbClr val="F0C34D"/>
                </a:solidFill>
                <a:latin typeface="Aileron Bold"/>
                <a:ea typeface="Aileron Bold"/>
                <a:cs typeface="Aileron Bold"/>
                <a:sym typeface="Aileron Bold"/>
              </a:rPr>
              <a:t>04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468889" y="4114814"/>
            <a:ext cx="1406381" cy="1128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1757" spc="-35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Define expert rules to</a:t>
            </a:r>
          </a:p>
          <a:p>
            <a:pPr algn="l">
              <a:lnSpc>
                <a:spcPts val="2372"/>
              </a:lnSpc>
            </a:pPr>
            <a:r>
              <a:rPr lang="en-US" sz="1757" spc="-35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encode nutrition logic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612708" y="3640352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403675" y="3349192"/>
            <a:ext cx="583038" cy="628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7"/>
              </a:lnSpc>
            </a:pPr>
            <a:r>
              <a:rPr lang="en-US" b="true" sz="3755" spc="-75">
                <a:solidFill>
                  <a:srgbClr val="F0C34D"/>
                </a:solidFill>
                <a:latin typeface="Aileron Bold"/>
                <a:ea typeface="Aileron Bold"/>
                <a:cs typeface="Aileron Bold"/>
                <a:sym typeface="Aileron Bold"/>
              </a:rPr>
              <a:t>05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396873" y="4070591"/>
            <a:ext cx="1489297" cy="1206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4"/>
              </a:lnSpc>
            </a:pPr>
            <a:r>
              <a:rPr lang="en-US" sz="1863" spc="-37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Inference engine applies rules to user data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9570574" y="3640352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359812" y="3349192"/>
            <a:ext cx="583038" cy="628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7"/>
              </a:lnSpc>
            </a:pPr>
            <a:r>
              <a:rPr lang="en-US" b="true" sz="3755" spc="-75">
                <a:solidFill>
                  <a:srgbClr val="F0C34D"/>
                </a:solidFill>
                <a:latin typeface="Aileron Bold"/>
                <a:ea typeface="Aileron Bold"/>
                <a:cs typeface="Aileron Bold"/>
                <a:sym typeface="Aileron Bold"/>
              </a:rPr>
              <a:t>06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353817" y="4114814"/>
            <a:ext cx="1355029" cy="1128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1757" spc="-35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Select meals and generate recommend-ations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1528440" y="3640352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2328540" y="3349192"/>
            <a:ext cx="583038" cy="628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7"/>
              </a:lnSpc>
            </a:pPr>
            <a:r>
              <a:rPr lang="en-US" b="true" sz="3755" spc="-75">
                <a:solidFill>
                  <a:srgbClr val="F0C34D"/>
                </a:solidFill>
                <a:latin typeface="Aileron Bold"/>
                <a:ea typeface="Aileron Bold"/>
                <a:cs typeface="Aileron Bold"/>
                <a:sym typeface="Aileron Bold"/>
              </a:rPr>
              <a:t>07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36530" y="4114814"/>
            <a:ext cx="1322766" cy="1128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1757" spc="-35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Create and format personalized diet plan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3497244" y="3640352"/>
            <a:ext cx="656268" cy="437279"/>
          </a:xfrm>
          <a:custGeom>
            <a:avLst/>
            <a:gdLst/>
            <a:ahLst/>
            <a:cxnLst/>
            <a:rect r="r" b="b" t="t" l="l"/>
            <a:pathLst>
              <a:path h="437279" w="656268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4271015" y="3349192"/>
            <a:ext cx="583038" cy="628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7"/>
              </a:lnSpc>
            </a:pPr>
            <a:r>
              <a:rPr lang="en-US" b="true" sz="3755" spc="-75">
                <a:solidFill>
                  <a:srgbClr val="F0C34D"/>
                </a:solidFill>
                <a:latin typeface="Aileron Bold"/>
                <a:ea typeface="Aileron Bold"/>
                <a:cs typeface="Aileron Bold"/>
                <a:sym typeface="Aileron Bold"/>
              </a:rPr>
              <a:t>08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266389" y="4114814"/>
            <a:ext cx="1218147" cy="1128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1757" spc="-35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Store user profiles and</a:t>
            </a:r>
          </a:p>
          <a:p>
            <a:pPr algn="l">
              <a:lnSpc>
                <a:spcPts val="2372"/>
              </a:lnSpc>
            </a:pPr>
            <a:r>
              <a:rPr lang="en-US" sz="1757" spc="-35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diet plans securely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5455110" y="3640352"/>
            <a:ext cx="656268" cy="437279"/>
          </a:xfrm>
          <a:custGeom>
            <a:avLst/>
            <a:gdLst/>
            <a:ahLst/>
            <a:cxnLst/>
            <a:rect r="r" b="b" t="t" l="l"/>
            <a:pathLst>
              <a:path h="437279" w="656268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6186165" y="3349192"/>
            <a:ext cx="583038" cy="628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7"/>
              </a:lnSpc>
            </a:pPr>
            <a:r>
              <a:rPr lang="en-US" b="true" sz="3755" spc="-75">
                <a:solidFill>
                  <a:srgbClr val="F0C34D"/>
                </a:solidFill>
                <a:latin typeface="Aileron Bold"/>
                <a:ea typeface="Aileron Bold"/>
                <a:cs typeface="Aileron Bold"/>
                <a:sym typeface="Aileron Bold"/>
              </a:rPr>
              <a:t>09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168026" y="4123739"/>
            <a:ext cx="1256815" cy="1413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1757" spc="-35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Deliver plan</a:t>
            </a:r>
          </a:p>
          <a:p>
            <a:pPr algn="l">
              <a:lnSpc>
                <a:spcPts val="2372"/>
              </a:lnSpc>
            </a:pPr>
            <a:r>
              <a:rPr lang="en-US" sz="1757" spc="-35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and insights through an intuitive</a:t>
            </a:r>
          </a:p>
          <a:p>
            <a:pPr algn="l">
              <a:lnSpc>
                <a:spcPts val="2372"/>
              </a:lnSpc>
            </a:pPr>
            <a:r>
              <a:rPr lang="en-US" sz="1757" spc="-35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interface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7412976" y="4285339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082842" y="5564382"/>
            <a:ext cx="15684804" cy="874559"/>
          </a:xfrm>
          <a:custGeom>
            <a:avLst/>
            <a:gdLst/>
            <a:ahLst/>
            <a:cxnLst/>
            <a:rect r="r" b="b" t="t" l="l"/>
            <a:pathLst>
              <a:path h="874559" w="15684804">
                <a:moveTo>
                  <a:pt x="0" y="0"/>
                </a:moveTo>
                <a:lnTo>
                  <a:pt x="15684804" y="0"/>
                </a:lnTo>
                <a:lnTo>
                  <a:pt x="15684804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3259464" y="6209369"/>
            <a:ext cx="448450" cy="1082267"/>
          </a:xfrm>
          <a:custGeom>
            <a:avLst/>
            <a:gdLst/>
            <a:ahLst/>
            <a:cxnLst/>
            <a:rect r="r" b="b" t="t" l="l"/>
            <a:pathLst>
              <a:path h="1082267" w="448450">
                <a:moveTo>
                  <a:pt x="0" y="0"/>
                </a:moveTo>
                <a:lnTo>
                  <a:pt x="448450" y="0"/>
                </a:lnTo>
                <a:lnTo>
                  <a:pt x="44845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6956440" y="6209369"/>
            <a:ext cx="448450" cy="1082267"/>
          </a:xfrm>
          <a:custGeom>
            <a:avLst/>
            <a:gdLst/>
            <a:ahLst/>
            <a:cxnLst/>
            <a:rect r="r" b="b" t="t" l="l"/>
            <a:pathLst>
              <a:path h="1082267" w="448450">
                <a:moveTo>
                  <a:pt x="0" y="0"/>
                </a:moveTo>
                <a:lnTo>
                  <a:pt x="448450" y="0"/>
                </a:lnTo>
                <a:lnTo>
                  <a:pt x="44845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520354" y="7280704"/>
            <a:ext cx="3926670" cy="2153601"/>
          </a:xfrm>
          <a:custGeom>
            <a:avLst/>
            <a:gdLst/>
            <a:ahLst/>
            <a:cxnLst/>
            <a:rect r="r" b="b" t="t" l="l"/>
            <a:pathLst>
              <a:path h="2153601" w="3926670">
                <a:moveTo>
                  <a:pt x="0" y="0"/>
                </a:moveTo>
                <a:lnTo>
                  <a:pt x="3926670" y="0"/>
                </a:lnTo>
                <a:lnTo>
                  <a:pt x="392667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2463607" y="7572057"/>
            <a:ext cx="2116703" cy="297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b="true" sz="1801" spc="-36">
                <a:solidFill>
                  <a:srgbClr val="F0C34D"/>
                </a:solidFill>
                <a:latin typeface="Inter Bold"/>
                <a:ea typeface="Inter Bold"/>
                <a:cs typeface="Inter Bold"/>
                <a:sym typeface="Inter Bold"/>
              </a:rPr>
              <a:t>Database / Storage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386108" y="8032767"/>
            <a:ext cx="2251876" cy="809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0"/>
              </a:lnSpc>
            </a:pPr>
            <a:r>
              <a:rPr lang="en-US" sz="1652" spc="-33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Securely saves user data, knowledge base and personalized plans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5436086" y="7280704"/>
            <a:ext cx="3281340" cy="2153601"/>
          </a:xfrm>
          <a:custGeom>
            <a:avLst/>
            <a:gdLst/>
            <a:ahLst/>
            <a:cxnLst/>
            <a:rect r="r" b="b" t="t" l="l"/>
            <a:pathLst>
              <a:path h="2153601" w="3281340">
                <a:moveTo>
                  <a:pt x="0" y="0"/>
                </a:moveTo>
                <a:lnTo>
                  <a:pt x="3281340" y="0"/>
                </a:lnTo>
                <a:lnTo>
                  <a:pt x="328134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6318981" y="7572057"/>
            <a:ext cx="1563456" cy="297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b="true" sz="1801" spc="-36">
                <a:solidFill>
                  <a:srgbClr val="F0C34D"/>
                </a:solidFill>
                <a:latin typeface="Inter Bold"/>
                <a:ea typeface="Inter Bold"/>
                <a:cs typeface="Inter Bold"/>
                <a:sym typeface="Inter Bold"/>
              </a:rPr>
              <a:t>User Interface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011447" y="8016352"/>
            <a:ext cx="2211206" cy="852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8"/>
              </a:lnSpc>
            </a:pPr>
            <a:r>
              <a:rPr lang="en-US" sz="1740" spc="-34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Simple input collection and clear plan presentation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8706488" y="6428009"/>
            <a:ext cx="6759560" cy="3858991"/>
          </a:xfrm>
          <a:custGeom>
            <a:avLst/>
            <a:gdLst/>
            <a:ahLst/>
            <a:cxnLst/>
            <a:rect r="r" b="b" t="t" l="l"/>
            <a:pathLst>
              <a:path h="3858991" w="6759560">
                <a:moveTo>
                  <a:pt x="0" y="0"/>
                </a:moveTo>
                <a:lnTo>
                  <a:pt x="6759560" y="0"/>
                </a:lnTo>
                <a:lnTo>
                  <a:pt x="6759560" y="3858991"/>
                </a:lnTo>
                <a:lnTo>
                  <a:pt x="0" y="385899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4361330" y="9204733"/>
            <a:ext cx="3926670" cy="1082267"/>
          </a:xfrm>
          <a:custGeom>
            <a:avLst/>
            <a:gdLst/>
            <a:ahLst/>
            <a:cxnLst/>
            <a:rect r="r" b="b" t="t" l="l"/>
            <a:pathLst>
              <a:path h="1082267" w="3926670">
                <a:moveTo>
                  <a:pt x="0" y="0"/>
                </a:moveTo>
                <a:lnTo>
                  <a:pt x="3926670" y="0"/>
                </a:lnTo>
                <a:lnTo>
                  <a:pt x="392667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5455110" y="7707051"/>
            <a:ext cx="1312536" cy="1727254"/>
          </a:xfrm>
          <a:custGeom>
            <a:avLst/>
            <a:gdLst/>
            <a:ahLst/>
            <a:cxnLst/>
            <a:rect r="r" b="b" t="t" l="l"/>
            <a:pathLst>
              <a:path h="1727254" w="1312536">
                <a:moveTo>
                  <a:pt x="0" y="0"/>
                </a:moveTo>
                <a:lnTo>
                  <a:pt x="1312536" y="0"/>
                </a:lnTo>
                <a:lnTo>
                  <a:pt x="131253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5455110" y="9204733"/>
            <a:ext cx="1968804" cy="655919"/>
          </a:xfrm>
          <a:custGeom>
            <a:avLst/>
            <a:gdLst/>
            <a:ahLst/>
            <a:cxnLst/>
            <a:rect r="r" b="b" t="t" l="l"/>
            <a:pathLst>
              <a:path h="655919" w="1968804">
                <a:moveTo>
                  <a:pt x="0" y="0"/>
                </a:moveTo>
                <a:lnTo>
                  <a:pt x="1968804" y="0"/>
                </a:lnTo>
                <a:lnTo>
                  <a:pt x="196880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93952" y="1246727"/>
            <a:ext cx="10894048" cy="7936623"/>
          </a:xfrm>
          <a:custGeom>
            <a:avLst/>
            <a:gdLst/>
            <a:ahLst/>
            <a:cxnLst/>
            <a:rect r="r" b="b" t="t" l="l"/>
            <a:pathLst>
              <a:path h="7936623" w="10894048">
                <a:moveTo>
                  <a:pt x="0" y="0"/>
                </a:moveTo>
                <a:lnTo>
                  <a:pt x="10894048" y="0"/>
                </a:lnTo>
                <a:lnTo>
                  <a:pt x="10894048" y="7936622"/>
                </a:lnTo>
                <a:lnTo>
                  <a:pt x="0" y="7936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5330" y="3848060"/>
            <a:ext cx="2406316" cy="448211"/>
          </a:xfrm>
          <a:custGeom>
            <a:avLst/>
            <a:gdLst/>
            <a:ahLst/>
            <a:cxnLst/>
            <a:rect r="r" b="b" t="t" l="l"/>
            <a:pathLst>
              <a:path h="448211" w="2406316">
                <a:moveTo>
                  <a:pt x="0" y="0"/>
                </a:moveTo>
                <a:lnTo>
                  <a:pt x="2406316" y="0"/>
                </a:lnTo>
                <a:lnTo>
                  <a:pt x="240631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933401" y="1655715"/>
            <a:ext cx="8497288" cy="6428633"/>
          </a:xfrm>
          <a:custGeom>
            <a:avLst/>
            <a:gdLst/>
            <a:ahLst/>
            <a:cxnLst/>
            <a:rect r="r" b="b" t="t" l="l"/>
            <a:pathLst>
              <a:path h="6428633" w="8497288">
                <a:moveTo>
                  <a:pt x="0" y="0"/>
                </a:moveTo>
                <a:lnTo>
                  <a:pt x="8497288" y="0"/>
                </a:lnTo>
                <a:lnTo>
                  <a:pt x="8497288" y="6428633"/>
                </a:lnTo>
                <a:lnTo>
                  <a:pt x="0" y="64286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27729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16208" y="1023169"/>
            <a:ext cx="1425268" cy="399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6"/>
              </a:lnSpc>
            </a:pPr>
            <a:r>
              <a:rPr lang="en-US" b="true" sz="2311" spc="-68">
                <a:solidFill>
                  <a:srgbClr val="F0C02F">
                    <a:alpha val="94902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MODULE 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6934" y="1712865"/>
            <a:ext cx="7673804" cy="1660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16"/>
              </a:lnSpc>
            </a:pPr>
            <a:r>
              <a:rPr lang="en-US" sz="5926" spc="-176" b="true">
                <a:solidFill>
                  <a:srgbClr val="FFFFFF">
                    <a:alpha val="94902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User Profile &amp; Requirement Analysis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8913" y="4433570"/>
            <a:ext cx="6475851" cy="1049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3"/>
              </a:lnSpc>
            </a:pPr>
            <a:r>
              <a:rPr lang="en-US" sz="3102" spc="-92">
                <a:solidFill>
                  <a:srgbClr val="FFFFFF">
                    <a:alpha val="94902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Capture and structure </a:t>
            </a:r>
            <a:r>
              <a:rPr lang="en-US" sz="3102" spc="-92" b="true">
                <a:solidFill>
                  <a:srgbClr val="F0C02F">
                    <a:alpha val="94902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personal data</a:t>
            </a:r>
            <a:r>
              <a:rPr lang="en-US" sz="3102" spc="-92">
                <a:solidFill>
                  <a:srgbClr val="FFFFFF">
                    <a:alpha val="94902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 to drive tailored diet plans.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1627" y="6031735"/>
            <a:ext cx="5204464" cy="382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267" spc="-67">
                <a:solidFill>
                  <a:srgbClr val="FFFFFF">
                    <a:alpha val="9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Collects demographic and health details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4374" y="6648672"/>
            <a:ext cx="5929826" cy="383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3"/>
              </a:lnSpc>
            </a:pPr>
            <a:r>
              <a:rPr lang="en-US" sz="2223" spc="-66">
                <a:solidFill>
                  <a:srgbClr val="FFFFFF">
                    <a:alpha val="9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Records activity levels, goals, and preferences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8788" y="7266724"/>
            <a:ext cx="6488341" cy="382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267" spc="-67">
                <a:solidFill>
                  <a:srgbClr val="FFFFFF">
                    <a:alpha val="9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Validates and organizes data for accurate insights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6448" y="7869158"/>
            <a:ext cx="4722358" cy="382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267" spc="-67">
                <a:solidFill>
                  <a:srgbClr val="FFFFFF">
                    <a:alpha val="94902"/>
                  </a:srgbClr>
                </a:solidFill>
                <a:latin typeface="Inter"/>
                <a:ea typeface="Inter"/>
                <a:cs typeface="Inter"/>
                <a:sym typeface="Inter"/>
              </a:rPr>
              <a:t>Enables personalized rule evaluation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56440" y="1705390"/>
            <a:ext cx="10686230" cy="7510275"/>
          </a:xfrm>
          <a:custGeom>
            <a:avLst/>
            <a:gdLst/>
            <a:ahLst/>
            <a:cxnLst/>
            <a:rect r="r" b="b" t="t" l="l"/>
            <a:pathLst>
              <a:path h="7510275" w="10686230">
                <a:moveTo>
                  <a:pt x="0" y="0"/>
                </a:moveTo>
                <a:lnTo>
                  <a:pt x="10686230" y="0"/>
                </a:lnTo>
                <a:lnTo>
                  <a:pt x="10686230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16150" y="961102"/>
            <a:ext cx="1431060" cy="357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b="true" sz="2232" spc="-44">
                <a:solidFill>
                  <a:srgbClr val="E6BD44"/>
                </a:solidFill>
                <a:latin typeface="Inter Bold"/>
                <a:ea typeface="Inter Bold"/>
                <a:cs typeface="Inter Bold"/>
                <a:sym typeface="Inter Bold"/>
              </a:rPr>
              <a:t>MODULE 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8823" y="1602169"/>
            <a:ext cx="8484900" cy="1837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3"/>
              </a:lnSpc>
            </a:pPr>
            <a:r>
              <a:rPr lang="en-US" sz="6523" spc="-130" b="true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Knowledge Base &amp; Rule-Based Inference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9625" y="3771579"/>
            <a:ext cx="6725783" cy="1015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759" spc="-55" b="true">
                <a:solidFill>
                  <a:srgbClr val="E6BD44"/>
                </a:solidFill>
                <a:latin typeface="Aileron Bold"/>
                <a:ea typeface="Aileron Bold"/>
                <a:cs typeface="Aileron Bold"/>
                <a:sym typeface="Aileron Bold"/>
              </a:rPr>
              <a:t>Store expert nutrition knowledge and apply rules to user data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5330" y="5138034"/>
            <a:ext cx="7634584" cy="229572"/>
          </a:xfrm>
          <a:custGeom>
            <a:avLst/>
            <a:gdLst/>
            <a:ahLst/>
            <a:cxnLst/>
            <a:rect r="r" b="b" t="t" l="l"/>
            <a:pathLst>
              <a:path h="229572" w="7634584">
                <a:moveTo>
                  <a:pt x="0" y="0"/>
                </a:moveTo>
                <a:lnTo>
                  <a:pt x="7634584" y="0"/>
                </a:lnTo>
                <a:lnTo>
                  <a:pt x="763458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24103" y="5531424"/>
            <a:ext cx="5277965" cy="748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 spc="-47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Maintains comprehensive nutrition facts and dietary constraints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4675" y="7144971"/>
            <a:ext cx="4220742" cy="714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sz="2232" spc="-44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Inference engine evaluates rules</a:t>
            </a:r>
          </a:p>
          <a:p>
            <a:pPr algn="l">
              <a:lnSpc>
                <a:spcPts val="2901"/>
              </a:lnSpc>
            </a:pPr>
            <a:r>
              <a:rPr lang="en-US" sz="2232" spc="-44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against user profile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5925" y="8148762"/>
            <a:ext cx="4095780" cy="70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2271" spc="-45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Enables explainable, consistent</a:t>
            </a:r>
          </a:p>
          <a:p>
            <a:pPr algn="l">
              <a:lnSpc>
                <a:spcPts val="2953"/>
              </a:lnSpc>
            </a:pPr>
            <a:r>
              <a:rPr lang="en-US" sz="2271" spc="-45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decision-making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7872" y="6528328"/>
            <a:ext cx="5901129" cy="347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2271" spc="-45">
                <a:solidFill>
                  <a:srgbClr val="FFFFFF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Encodes expert knowledge as IF–THEN rules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5330" y="3421712"/>
            <a:ext cx="1104718" cy="229572"/>
          </a:xfrm>
          <a:custGeom>
            <a:avLst/>
            <a:gdLst/>
            <a:ahLst/>
            <a:cxnLst/>
            <a:rect r="r" b="b" t="t" l="l"/>
            <a:pathLst>
              <a:path h="229572" w="1104718">
                <a:moveTo>
                  <a:pt x="0" y="0"/>
                </a:moveTo>
                <a:lnTo>
                  <a:pt x="1104718" y="0"/>
                </a:lnTo>
                <a:lnTo>
                  <a:pt x="110471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75196" y="1497682"/>
            <a:ext cx="10904986" cy="7936623"/>
          </a:xfrm>
          <a:custGeom>
            <a:avLst/>
            <a:gdLst/>
            <a:ahLst/>
            <a:cxnLst/>
            <a:rect r="r" b="b" t="t" l="l"/>
            <a:pathLst>
              <a:path h="7936623" w="10904986">
                <a:moveTo>
                  <a:pt x="0" y="0"/>
                </a:moveTo>
                <a:lnTo>
                  <a:pt x="10904986" y="0"/>
                </a:lnTo>
                <a:lnTo>
                  <a:pt x="10904986" y="7936623"/>
                </a:lnTo>
                <a:lnTo>
                  <a:pt x="0" y="7936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341476" y="1888325"/>
            <a:ext cx="8428340" cy="5881805"/>
          </a:xfrm>
          <a:custGeom>
            <a:avLst/>
            <a:gdLst/>
            <a:ahLst/>
            <a:cxnLst/>
            <a:rect r="r" b="b" t="t" l="l"/>
            <a:pathLst>
              <a:path h="5881805" w="8428340">
                <a:moveTo>
                  <a:pt x="0" y="0"/>
                </a:moveTo>
                <a:lnTo>
                  <a:pt x="8428341" y="0"/>
                </a:lnTo>
                <a:lnTo>
                  <a:pt x="8428341" y="5881806"/>
                </a:lnTo>
                <a:lnTo>
                  <a:pt x="0" y="58818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32" t="0" r="-18328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40473" y="1490855"/>
            <a:ext cx="6319861" cy="169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6"/>
              </a:lnSpc>
            </a:pPr>
            <a:r>
              <a:rPr lang="en-US" sz="6108" spc="-181" b="true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Personalized Diet Plan Generation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1220" y="3997350"/>
            <a:ext cx="4245221" cy="748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355" spc="-23">
                <a:solidFill>
                  <a:srgbClr val="FFFFFF">
                    <a:alpha val="84706"/>
                  </a:srgbClr>
                </a:solidFill>
                <a:latin typeface="Inter"/>
                <a:ea typeface="Inter"/>
                <a:cs typeface="Inter"/>
                <a:sym typeface="Inter"/>
              </a:rPr>
              <a:t>Creates customized diet plans</a:t>
            </a:r>
          </a:p>
          <a:p>
            <a:pPr algn="l">
              <a:lnSpc>
                <a:spcPts val="3061"/>
              </a:lnSpc>
            </a:pPr>
            <a:r>
              <a:rPr lang="en-US" sz="2355" spc="-23">
                <a:solidFill>
                  <a:srgbClr val="FFFFFF">
                    <a:alpha val="84706"/>
                  </a:srgbClr>
                </a:solidFill>
                <a:latin typeface="Inter"/>
                <a:ea typeface="Inter"/>
                <a:cs typeface="Inter"/>
                <a:sym typeface="Inter"/>
              </a:rPr>
              <a:t>based on inference results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8913" y="5059180"/>
            <a:ext cx="5475862" cy="77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2"/>
              </a:lnSpc>
            </a:pPr>
            <a:r>
              <a:rPr lang="en-US" sz="2487" spc="-24">
                <a:solidFill>
                  <a:srgbClr val="FFFFFF">
                    <a:alpha val="84706"/>
                  </a:srgbClr>
                </a:solidFill>
                <a:latin typeface="Inter"/>
                <a:ea typeface="Inter"/>
                <a:cs typeface="Inter"/>
                <a:sym typeface="Inter"/>
              </a:rPr>
              <a:t>Selects meals that meet nutritional and user-specific needs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2871" y="6128499"/>
            <a:ext cx="5080131" cy="77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2"/>
              </a:lnSpc>
            </a:pPr>
            <a:r>
              <a:rPr lang="en-US" sz="2487" spc="-24">
                <a:solidFill>
                  <a:srgbClr val="FFFFFF">
                    <a:alpha val="84706"/>
                  </a:srgbClr>
                </a:solidFill>
                <a:latin typeface="Inter"/>
                <a:ea typeface="Inter"/>
                <a:cs typeface="Inter"/>
                <a:sym typeface="Inter"/>
              </a:rPr>
              <a:t>Balances macro- and micronutrients using expert rules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2882" y="7197819"/>
            <a:ext cx="4078993" cy="77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2"/>
              </a:lnSpc>
            </a:pPr>
            <a:r>
              <a:rPr lang="en-US" sz="2487" spc="-24">
                <a:solidFill>
                  <a:srgbClr val="FFFFFF">
                    <a:alpha val="84706"/>
                  </a:srgbClr>
                </a:solidFill>
                <a:latin typeface="Inter"/>
                <a:ea typeface="Inter"/>
                <a:cs typeface="Inter"/>
                <a:sym typeface="Inter"/>
              </a:rPr>
              <a:t>Delivers clear, actionable diet recommendations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8511" y="8289689"/>
            <a:ext cx="3516093" cy="748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355" spc="-23">
                <a:solidFill>
                  <a:srgbClr val="FFFFFF">
                    <a:alpha val="84706"/>
                  </a:srgbClr>
                </a:solidFill>
                <a:latin typeface="Inter"/>
                <a:ea typeface="Inter"/>
                <a:cs typeface="Inter"/>
                <a:sym typeface="Inter"/>
              </a:rPr>
              <a:t>Supports plan export and</a:t>
            </a:r>
          </a:p>
          <a:p>
            <a:pPr algn="l">
              <a:lnSpc>
                <a:spcPts val="3061"/>
              </a:lnSpc>
            </a:pPr>
            <a:r>
              <a:rPr lang="en-US" sz="2355" spc="-23">
                <a:solidFill>
                  <a:srgbClr val="FFFFFF">
                    <a:alpha val="84706"/>
                  </a:srgbClr>
                </a:solidFill>
                <a:latin typeface="Inter"/>
                <a:ea typeface="Inter"/>
                <a:cs typeface="Inter"/>
                <a:sym typeface="Inter"/>
              </a:rPr>
              <a:t>user feedback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3672" y="954566"/>
            <a:ext cx="5491758" cy="357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b="true" sz="2254" spc="-22">
                <a:solidFill>
                  <a:srgbClr val="EEB61B">
                    <a:alpha val="84706"/>
                  </a:srgbClr>
                </a:solidFill>
                <a:latin typeface="Aileron Bold"/>
                <a:ea typeface="Aileron Bold"/>
                <a:cs typeface="Aileron Bold"/>
                <a:sym typeface="Aileron Bold"/>
              </a:rPr>
              <a:t>MODULE 3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01866" y="2350377"/>
            <a:ext cx="2832890" cy="3443576"/>
          </a:xfrm>
          <a:custGeom>
            <a:avLst/>
            <a:gdLst/>
            <a:ahLst/>
            <a:cxnLst/>
            <a:rect r="r" b="b" t="t" l="l"/>
            <a:pathLst>
              <a:path h="3443576" w="2832890">
                <a:moveTo>
                  <a:pt x="0" y="0"/>
                </a:moveTo>
                <a:lnTo>
                  <a:pt x="2832890" y="0"/>
                </a:lnTo>
                <a:lnTo>
                  <a:pt x="2832890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73866" y="2142670"/>
            <a:ext cx="2614134" cy="2787657"/>
          </a:xfrm>
          <a:custGeom>
            <a:avLst/>
            <a:gdLst/>
            <a:ahLst/>
            <a:cxnLst/>
            <a:rect r="r" b="b" t="t" l="l"/>
            <a:pathLst>
              <a:path h="2787657" w="2614134">
                <a:moveTo>
                  <a:pt x="0" y="0"/>
                </a:moveTo>
                <a:lnTo>
                  <a:pt x="2614134" y="0"/>
                </a:lnTo>
                <a:lnTo>
                  <a:pt x="2614134" y="2787656"/>
                </a:lnTo>
                <a:lnTo>
                  <a:pt x="0" y="27876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01866" y="4066699"/>
            <a:ext cx="7186134" cy="5367606"/>
          </a:xfrm>
          <a:custGeom>
            <a:avLst/>
            <a:gdLst/>
            <a:ahLst/>
            <a:cxnLst/>
            <a:rect r="r" b="b" t="t" l="l"/>
            <a:pathLst>
              <a:path h="5367606" w="7186134">
                <a:moveTo>
                  <a:pt x="0" y="0"/>
                </a:moveTo>
                <a:lnTo>
                  <a:pt x="7186134" y="0"/>
                </a:lnTo>
                <a:lnTo>
                  <a:pt x="7186134" y="5367606"/>
                </a:lnTo>
                <a:lnTo>
                  <a:pt x="0" y="53676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320622" y="9204733"/>
            <a:ext cx="2832890" cy="1082267"/>
          </a:xfrm>
          <a:custGeom>
            <a:avLst/>
            <a:gdLst/>
            <a:ahLst/>
            <a:cxnLst/>
            <a:rect r="r" b="b" t="t" l="l"/>
            <a:pathLst>
              <a:path h="1082267" w="2832890">
                <a:moveTo>
                  <a:pt x="0" y="0"/>
                </a:moveTo>
                <a:lnTo>
                  <a:pt x="2832890" y="0"/>
                </a:lnTo>
                <a:lnTo>
                  <a:pt x="283289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21870" y="759525"/>
            <a:ext cx="8180197" cy="1637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0"/>
              </a:lnSpc>
            </a:pPr>
            <a:r>
              <a:rPr lang="en-US" sz="6134" b="true">
                <a:solidFill>
                  <a:srgbClr val="F6F6F6"/>
                </a:solidFill>
                <a:latin typeface="Aileron Bold"/>
                <a:ea typeface="Aileron Bold"/>
                <a:cs typeface="Aileron Bold"/>
                <a:sym typeface="Aileron Bold"/>
              </a:rPr>
              <a:t>Conclusion &amp; </a:t>
            </a:r>
          </a:p>
          <a:p>
            <a:pPr algn="l">
              <a:lnSpc>
                <a:spcPts val="6440"/>
              </a:lnSpc>
            </a:pPr>
            <a:r>
              <a:rPr lang="en-US" sz="6134" b="true">
                <a:solidFill>
                  <a:srgbClr val="F6F6F6"/>
                </a:solidFill>
                <a:latin typeface="Aileron Bold"/>
                <a:ea typeface="Aileron Bold"/>
                <a:cs typeface="Aileron Bold"/>
                <a:sym typeface="Aileron Bold"/>
              </a:rPr>
              <a:t>Future Enhancements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0449" y="2813401"/>
            <a:ext cx="2001180" cy="374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4"/>
              </a:lnSpc>
            </a:pPr>
            <a:r>
              <a:rPr lang="en-US" sz="2311" b="true">
                <a:solidFill>
                  <a:srgbClr val="E6B83F"/>
                </a:solidFill>
                <a:latin typeface="Inter Bold"/>
                <a:ea typeface="Inter Bold"/>
                <a:cs typeface="Inter Bold"/>
                <a:sym typeface="Inter Bold"/>
              </a:rPr>
              <a:t>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0461" y="3411714"/>
            <a:ext cx="6697266" cy="71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spc="-67">
                <a:solidFill>
                  <a:srgbClr val="F6F6F6">
                    <a:alpha val="84706"/>
                  </a:srgbClr>
                </a:solidFill>
                <a:latin typeface="Inter"/>
                <a:ea typeface="Inter"/>
                <a:cs typeface="Inter"/>
                <a:sym typeface="Inter"/>
              </a:rPr>
              <a:t>Personalized diet recommendations using classical AI and rule-based reasoning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30461" y="4360547"/>
            <a:ext cx="5598914" cy="71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spc="-67">
                <a:solidFill>
                  <a:srgbClr val="F6F6F6">
                    <a:alpha val="84706"/>
                  </a:srgbClr>
                </a:solidFill>
                <a:latin typeface="Inter"/>
                <a:ea typeface="Inter"/>
                <a:cs typeface="Inter"/>
                <a:sym typeface="Inter"/>
              </a:rPr>
              <a:t>Explainable outputs grounded in user inputs and expert knowledge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0461" y="5294319"/>
            <a:ext cx="5973961" cy="71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spc="-67">
                <a:solidFill>
                  <a:srgbClr val="F6F6F6">
                    <a:alpha val="84706"/>
                  </a:srgbClr>
                </a:solidFill>
                <a:latin typeface="Inter"/>
                <a:ea typeface="Inter"/>
                <a:cs typeface="Inter"/>
                <a:sym typeface="Inter"/>
              </a:rPr>
              <a:t>Avoids ML/DL—relies on structured knowledge base and inference rules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45330" y="6209369"/>
            <a:ext cx="10029962" cy="229572"/>
          </a:xfrm>
          <a:custGeom>
            <a:avLst/>
            <a:gdLst/>
            <a:ahLst/>
            <a:cxnLst/>
            <a:rect r="r" b="b" t="t" l="l"/>
            <a:pathLst>
              <a:path h="229572" w="10029962">
                <a:moveTo>
                  <a:pt x="0" y="0"/>
                </a:moveTo>
                <a:lnTo>
                  <a:pt x="10029962" y="0"/>
                </a:lnTo>
                <a:lnTo>
                  <a:pt x="1002996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92158" y="6744559"/>
            <a:ext cx="3830308" cy="373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355" b="true">
                <a:solidFill>
                  <a:srgbClr val="E6B83F"/>
                </a:solidFill>
                <a:latin typeface="Inter Bold"/>
                <a:ea typeface="Inter Bold"/>
                <a:cs typeface="Inter Bold"/>
                <a:sym typeface="Inter Bold"/>
              </a:rPr>
              <a:t>FUTURE ENHANCEMENTS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30461" y="7295180"/>
            <a:ext cx="4634508" cy="357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spc="-67">
                <a:solidFill>
                  <a:srgbClr val="F6F6F6">
                    <a:alpha val="84706"/>
                  </a:srgbClr>
                </a:solidFill>
                <a:latin typeface="Inter"/>
                <a:ea typeface="Inter"/>
                <a:cs typeface="Inter"/>
                <a:sym typeface="Inter"/>
              </a:rPr>
              <a:t>Mobile application development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30461" y="8454864"/>
            <a:ext cx="4634508" cy="357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spc="-67">
                <a:solidFill>
                  <a:srgbClr val="F6F6F6">
                    <a:alpha val="84706"/>
                  </a:srgbClr>
                </a:solidFill>
                <a:latin typeface="Inter"/>
                <a:ea typeface="Inter"/>
                <a:cs typeface="Inter"/>
                <a:sym typeface="Inter"/>
              </a:rPr>
              <a:t>More personalized meal alternatives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41852" y="7216150"/>
            <a:ext cx="3884414" cy="705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188" spc="-65">
                <a:solidFill>
                  <a:srgbClr val="F6F6F6">
                    <a:alpha val="84706"/>
                  </a:srgbClr>
                </a:solidFill>
                <a:latin typeface="Inter"/>
                <a:ea typeface="Inter"/>
                <a:cs typeface="Inter"/>
                <a:sym typeface="Inter"/>
              </a:rPr>
              <a:t>Integration with fitness trackers and wearable devices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41852" y="8110696"/>
            <a:ext cx="2893219" cy="71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spc="-67">
                <a:solidFill>
                  <a:srgbClr val="F6F6F6">
                    <a:alpha val="84706"/>
                  </a:srgbClr>
                </a:solidFill>
                <a:latin typeface="Inter"/>
                <a:ea typeface="Inter"/>
                <a:cs typeface="Inter"/>
                <a:sym typeface="Inter"/>
              </a:rPr>
              <a:t>Linking with verified nutrition databases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41852" y="9040880"/>
            <a:ext cx="2893219" cy="670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8"/>
              </a:lnSpc>
            </a:pPr>
            <a:r>
              <a:rPr lang="en-US" sz="2122" spc="-63">
                <a:solidFill>
                  <a:srgbClr val="F6F6F6">
                    <a:alpha val="84706"/>
                  </a:srgbClr>
                </a:solidFill>
                <a:latin typeface="Inter"/>
                <a:ea typeface="Inter"/>
                <a:cs typeface="Inter"/>
                <a:sym typeface="Inter"/>
              </a:rPr>
              <a:t>Voice-based interaction for accessibility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445598" y="6209369"/>
            <a:ext cx="1093780" cy="3006296"/>
          </a:xfrm>
          <a:custGeom>
            <a:avLst/>
            <a:gdLst/>
            <a:ahLst/>
            <a:cxnLst/>
            <a:rect r="r" b="b" t="t" l="l"/>
            <a:pathLst>
              <a:path h="3006296" w="1093780">
                <a:moveTo>
                  <a:pt x="0" y="0"/>
                </a:moveTo>
                <a:lnTo>
                  <a:pt x="1093780" y="0"/>
                </a:lnTo>
                <a:lnTo>
                  <a:pt x="1093780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30461" y="7900160"/>
            <a:ext cx="4634508" cy="331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8"/>
              </a:lnSpc>
            </a:pPr>
            <a:r>
              <a:rPr lang="en-US" sz="2122" spc="-63">
                <a:solidFill>
                  <a:srgbClr val="F6F6F6">
                    <a:alpha val="84706"/>
                  </a:srgbClr>
                </a:solidFill>
                <a:latin typeface="Inter"/>
                <a:ea typeface="Inter"/>
                <a:cs typeface="Inter"/>
                <a:sym typeface="Inter"/>
              </a:rPr>
              <a:t>Expansion of nutrition knowledge base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30461" y="9012116"/>
            <a:ext cx="4634508" cy="357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 spc="-67">
                <a:solidFill>
                  <a:srgbClr val="F6F6F6">
                    <a:alpha val="84706"/>
                  </a:srgbClr>
                </a:solidFill>
                <a:latin typeface="Inter"/>
                <a:ea typeface="Inter"/>
                <a:cs typeface="Inter"/>
                <a:sym typeface="Inter"/>
              </a:rPr>
              <a:t>Multilingual support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9014" y="655138"/>
            <a:ext cx="4465766" cy="897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1"/>
              </a:lnSpc>
            </a:pPr>
            <a:r>
              <a:rPr lang="en-US" sz="6841" spc="-340" b="true">
                <a:solidFill>
                  <a:srgbClr val="FFFFFF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References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1497682"/>
            <a:ext cx="9811206" cy="437279"/>
          </a:xfrm>
          <a:custGeom>
            <a:avLst/>
            <a:gdLst/>
            <a:ahLst/>
            <a:cxnLst/>
            <a:rect r="r" b="b" t="t" l="l"/>
            <a:pathLst>
              <a:path h="437279" w="9811206">
                <a:moveTo>
                  <a:pt x="0" y="0"/>
                </a:moveTo>
                <a:lnTo>
                  <a:pt x="9811206" y="0"/>
                </a:lnTo>
                <a:lnTo>
                  <a:pt x="981120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21175" y="2263357"/>
            <a:ext cx="8249713" cy="645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spc="-40">
                <a:solidFill>
                  <a:srgbClr val="FFFFFF">
                    <a:alpha val="80000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J. Smith, A. Brown, and M. Davis, "AI in Personalized Nutrition Planning," Journal of Nutrition Informatics, vol. 15, no. 3, pp. 45–58, 2022.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7610" y="3106764"/>
            <a:ext cx="8606221" cy="645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spc="-40">
                <a:solidFill>
                  <a:srgbClr val="FFFFFF">
                    <a:alpha val="80000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K. Lee and S. Kumar, "Intelligent Dietary Decision Support Systems," Expert Systems with Applications, vol. 42, no. 7, pp. 3107–3115, 2021.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8068" y="3964936"/>
            <a:ext cx="8560428" cy="1019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2109" spc="-42">
                <a:solidFill>
                  <a:srgbClr val="FFFFFF">
                    <a:alpha val="80000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R. Patel, L. Wang, and T. Chen, "Personalized Diet Recommendation System Using Rule-Based Inference," IEEE Transactions on Biomedical Engineering, vol. 70, no. 1, pp. 120–130, 2023.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9797" y="5124621"/>
            <a:ext cx="8387502" cy="1019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2109" spc="-42">
                <a:solidFill>
                  <a:srgbClr val="FFFFFF">
                    <a:alpha val="80000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Y. Chen and M. Hernandez, "Rule-Based Nutrition Advisor for Dietary Management," Proceedings of the International Conference on Health Informatics, pp. 85–92, 2020.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7053" y="6314428"/>
            <a:ext cx="8661876" cy="1019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2109" spc="-42">
                <a:solidFill>
                  <a:srgbClr val="FFFFFF">
                    <a:alpha val="80000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M. Garcia and H. Thompson, "AI-Driven Diet Planning Framework with Knowledge Representation," ACM Computing Surveys, vol. 56, no. 4, pp. 78-178:25, 2024.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7703" y="7519590"/>
            <a:ext cx="8596922" cy="645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 spc="-40">
                <a:solidFill>
                  <a:srgbClr val="FFFFFF">
                    <a:alpha val="80000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World Health Organization, "Healthy Diet Fact Sheet," 2023. [Online]. Available: </a:t>
            </a:r>
            <a:r>
              <a:rPr lang="en-US" sz="2047" spc="-40">
                <a:solidFill>
                  <a:srgbClr val="E1B644">
                    <a:alpha val="80000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https://www.who.int/news-room/fact-sheets/detail/healthy-diet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0613" y="8362702"/>
            <a:ext cx="8305884" cy="341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2109" spc="-42">
                <a:solidFill>
                  <a:srgbClr val="FFFFFF">
                    <a:alpha val="80000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National Institute of Nutrition, "Dietary Guidelines for Indians," 2022.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7087" y="8874770"/>
            <a:ext cx="7658519" cy="1019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2109" spc="-42">
                <a:solidFill>
                  <a:srgbClr val="FFFFFF">
                    <a:alpha val="80000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A. Kumar et al., "Design and Development of Expert Systems for Healthcare Applications," International Journal of Computer Applications, vol. 180, no. 12, pp. 23-29, 2021.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883110" y="1924030"/>
            <a:ext cx="7404890" cy="8362970"/>
          </a:xfrm>
          <a:custGeom>
            <a:avLst/>
            <a:gdLst/>
            <a:ahLst/>
            <a:cxnLst/>
            <a:rect r="r" b="b" t="t" l="l"/>
            <a:pathLst>
              <a:path h="8362970" w="7404890">
                <a:moveTo>
                  <a:pt x="0" y="0"/>
                </a:moveTo>
                <a:lnTo>
                  <a:pt x="7404890" y="0"/>
                </a:lnTo>
                <a:lnTo>
                  <a:pt x="7404890" y="8362970"/>
                </a:lnTo>
                <a:lnTo>
                  <a:pt x="0" y="8362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DAHXVPGjhK8</dc:identifier>
  <dcterms:modified xsi:type="dcterms:W3CDTF">2011-08-01T06:04:30Z</dcterms:modified>
  <cp:revision>1</cp:revision>
  <dc:title>NutriGuide AI</dc:title>
</cp:coreProperties>
</file>